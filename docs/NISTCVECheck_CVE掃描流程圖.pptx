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</a:rPr>
              <a:t>CVE 掃描流程圖　NIST NVD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051560"/>
            <a:ext cx="4937760" cy="777240"/>
          </a:xfrm>
          <a:prstGeom prst="roundRect">
            <a:avLst/>
          </a:prstGeom>
          <a:solidFill>
            <a:srgbClr val="374751"/>
          </a:solidFill>
          <a:ln>
            <a:solidFill>
              <a:srgbClr val="3747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</a:rPr>
              <a:t>軟體清單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Microsoft JhengHei"/>
                <a:ea typeface="Microsoft JhengHei"/>
              </a:rPr>
              <a:t>scan.json　|　Windows Registry　|　PORTABLE_N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21408"/>
            <a:ext cx="4937760" cy="841248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步驟 1　找 CPE（鎖定 vendor:product）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Microsoft JhengHei"/>
                <a:ea typeface="Microsoft JhengHei"/>
              </a:rPr>
              <a:t>查 NVD CPE 字典 → cpekw_ 快取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2E8F0"/>
                </a:solidFill>
                <a:latin typeface="Microsoft JhengHei"/>
                <a:ea typeface="Microsoft JhengHei"/>
              </a:rPr>
              <a:t>一般軟體：軟體名精確比對（Webex→只 cisco:webex）｜Portable：模糊比對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2E8F0"/>
                </a:solidFill>
                <a:latin typeface="Microsoft JhengHei"/>
                <a:ea typeface="Microsoft JhengHei"/>
              </a:rPr>
              <a:t>※ 過於通用(&gt;2000) 或無 CPE → 改走關鍵字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310128"/>
            <a:ext cx="4937760" cy="841248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步驟 2　查 CVE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Microsoft JhengHei"/>
                <a:ea typeface="Microsoft JhengHei"/>
              </a:rPr>
              <a:t>有 CPE：virtualMatchString → cpe_ 快取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Microsoft JhengHei"/>
                <a:ea typeface="Microsoft JhengHei"/>
              </a:rPr>
              <a:t>無 CPE：keywordSearch 比對描述全文 → kw_ 快取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498848"/>
            <a:ext cx="4937760" cy="841248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步驟 3　補撈 NVD 尚未分析的新 CVE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Microsoft JhengHei"/>
                <a:ea typeface="Microsoft JhengHei"/>
              </a:rPr>
              <a:t>再補打關鍵字查詢（→ kw_ 快取）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2E8F0"/>
                </a:solidFill>
                <a:latin typeface="Microsoft JhengHei"/>
                <a:ea typeface="Microsoft JhengHei"/>
              </a:rPr>
              <a:t>守門：①完全無 CPE ②參考連結 host/owner 指向本軟體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E2E8F0"/>
                </a:solidFill>
                <a:latin typeface="Microsoft JhengHei"/>
                <a:ea typeface="Microsoft JhengHei"/>
              </a:rPr>
              <a:t>通過者標 ⚠ NVD 分析中，供人工確認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687568"/>
            <a:ext cx="4937760" cy="777240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關聯性 + 版本比對 → 報表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E2E8F0"/>
                </a:solidFill>
                <a:latin typeface="Microsoft JhengHei"/>
                <a:ea typeface="Microsoft JhengHei"/>
              </a:rPr>
              <a:t>嚴重度 / 年份 / 受影響版本範圍　→　HTML・JSON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1828800"/>
            <a:ext cx="0" cy="292608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91840" y="2962656"/>
            <a:ext cx="0" cy="347472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91840" y="4151376"/>
            <a:ext cx="0" cy="347472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5340096"/>
            <a:ext cx="0" cy="347472"/>
          </a:xfrm>
          <a:prstGeom prst="line">
            <a:avLst/>
          </a:prstGeom>
          <a:ln w="28575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355080" y="1051560"/>
            <a:ext cx="5029200" cy="4572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本機快取（data/）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627632"/>
            <a:ext cx="5029200" cy="713232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E3A5F"/>
                </a:solidFill>
                <a:latin typeface="Microsoft JhengHei"/>
                <a:ea typeface="Microsoft JhengHei"/>
              </a:rPr>
              <a:t>cpekw_&lt;軟體名&gt;　data/cpe_cache/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34155"/>
                </a:solidFill>
                <a:latin typeface="Microsoft JhengHei"/>
                <a:ea typeface="Microsoft JhengHei"/>
              </a:rPr>
              <a:t>CPE 字典查找結果（vendor:product 清單）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468880"/>
            <a:ext cx="5029200" cy="713232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E3A5F"/>
                </a:solidFill>
                <a:latin typeface="Microsoft JhengHei"/>
                <a:ea typeface="Microsoft JhengHei"/>
              </a:rPr>
              <a:t>cpe_&lt;vendor&gt;_&lt;product&gt;　data/cve_cache/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34155"/>
                </a:solidFill>
                <a:latin typeface="Microsoft JhengHei"/>
                <a:ea typeface="Microsoft JhengHei"/>
              </a:rPr>
              <a:t>用 CPE 找到的 CVE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310128"/>
            <a:ext cx="5029200" cy="713232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E3A5F"/>
                </a:solidFill>
                <a:latin typeface="Microsoft JhengHei"/>
                <a:ea typeface="Microsoft JhengHei"/>
              </a:rPr>
              <a:t>kw_&lt;關鍵字&gt;　data/cve_cache/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334155"/>
                </a:solidFill>
                <a:latin typeface="Microsoft JhengHei"/>
                <a:ea typeface="Microsoft JhengHei"/>
              </a:rPr>
              <a:t>用關鍵字找到的 CVE（含步驟 3 補撈）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197096"/>
            <a:ext cx="5029200" cy="1691640"/>
          </a:xfrm>
          <a:prstGeom prst="roundRect">
            <a:avLst/>
          </a:prstGeom>
          <a:solidFill>
            <a:srgbClr val="FEF3C7"/>
          </a:solidFill>
          <a:ln>
            <a:solidFill>
              <a:srgbClr val="FDE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92400E"/>
                </a:solidFill>
                <a:latin typeface="Microsoft JhengHei"/>
                <a:ea typeface="Microsoft JhengHei"/>
              </a:rPr>
              <a:t>快取保留與更新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44403A"/>
                </a:solidFill>
                <a:latin typeface="Microsoft JhengHei"/>
                <a:ea typeface="Microsoft JhengHei"/>
              </a:rPr>
              <a:t>• 快取檔永不自動刪除（無 TTL）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44403A"/>
                </a:solidFill>
                <a:latin typeface="Microsoft JhengHei"/>
                <a:ea typeface="Microsoft JhengHei"/>
              </a:rPr>
              <a:t>• 同一天重複掃描 → 直接用快取，不打 NVD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44403A"/>
                </a:solidFill>
                <a:latin typeface="Microsoft JhengHei"/>
                <a:ea typeface="Microsoft JhengHei"/>
              </a:rPr>
              <a:t>• 跨天：CVE 走增量(lastModStartDate)、CPE 字典整批重抓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44403A"/>
                </a:solidFill>
                <a:latin typeface="Microsoft JhengHei"/>
                <a:ea typeface="Microsoft JhengHei"/>
              </a:rPr>
              <a:t>• 首次 / 補舊年份 → 全量查詢（120 天/段）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760720" y="1984248"/>
            <a:ext cx="594360" cy="320040"/>
          </a:xfrm>
          <a:prstGeom prst="line">
            <a:avLst/>
          </a:prstGeom>
          <a:ln w="15875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760720" y="2825496"/>
            <a:ext cx="594360" cy="896112"/>
          </a:xfrm>
          <a:prstGeom prst="line">
            <a:avLst/>
          </a:prstGeom>
          <a:ln w="15875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760720" y="3666744"/>
            <a:ext cx="594360" cy="1243584"/>
          </a:xfrm>
          <a:prstGeom prst="line">
            <a:avLst/>
          </a:prstGeom>
          <a:ln w="15875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